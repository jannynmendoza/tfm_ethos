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8C8"/>
    <a:srgbClr val="00AFBE"/>
    <a:srgbClr val="009999"/>
    <a:srgbClr val="00B4B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0C92CE-AFEC-4F62-987F-A91BD1F20085}" v="7" dt="2026-06-12T17:09:51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2136" y="-7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doza Rojas, Jannyn" userId="bae6d6bb-ed69-4964-9940-9d261c071224" providerId="ADAL" clId="{B5FC0E65-038E-44D3-9A1D-238B56A9641D}"/>
    <pc:docChg chg="undo custSel delSld modSld">
      <pc:chgData name="Mendoza Rojas, Jannyn" userId="bae6d6bb-ed69-4964-9940-9d261c071224" providerId="ADAL" clId="{B5FC0E65-038E-44D3-9A1D-238B56A9641D}" dt="2026-06-12T17:10:08.366" v="421" actId="113"/>
      <pc:docMkLst>
        <pc:docMk/>
      </pc:docMkLst>
      <pc:sldChg chg="addSp delSp modSp mod">
        <pc:chgData name="Mendoza Rojas, Jannyn" userId="bae6d6bb-ed69-4964-9940-9d261c071224" providerId="ADAL" clId="{B5FC0E65-038E-44D3-9A1D-238B56A9641D}" dt="2026-06-12T17:10:08.366" v="421" actId="113"/>
        <pc:sldMkLst>
          <pc:docMk/>
          <pc:sldMk cId="1998394443" sldId="256"/>
        </pc:sldMkLst>
        <pc:spChg chg="mod">
          <ac:chgData name="Mendoza Rojas, Jannyn" userId="bae6d6bb-ed69-4964-9940-9d261c071224" providerId="ADAL" clId="{B5FC0E65-038E-44D3-9A1D-238B56A9641D}" dt="2026-05-28T16:36:32.988" v="195" actId="20577"/>
          <ac:spMkLst>
            <pc:docMk/>
            <pc:sldMk cId="1998394443" sldId="256"/>
            <ac:spMk id="3" creationId="{348D094A-337F-2AC4-8E27-B16AB0BBA51B}"/>
          </ac:spMkLst>
        </pc:spChg>
        <pc:spChg chg="add del mod">
          <ac:chgData name="Mendoza Rojas, Jannyn" userId="bae6d6bb-ed69-4964-9940-9d261c071224" providerId="ADAL" clId="{B5FC0E65-038E-44D3-9A1D-238B56A9641D}" dt="2026-06-12T17:10:08.366" v="421" actId="113"/>
          <ac:spMkLst>
            <pc:docMk/>
            <pc:sldMk cId="1998394443" sldId="256"/>
            <ac:spMk id="14" creationId="{EE98A6F9-0A76-BF75-5444-7243C612DBFE}"/>
          </ac:spMkLst>
        </pc:spChg>
        <pc:spChg chg="mod">
          <ac:chgData name="Mendoza Rojas, Jannyn" userId="bae6d6bb-ed69-4964-9940-9d261c071224" providerId="ADAL" clId="{B5FC0E65-038E-44D3-9A1D-238B56A9641D}" dt="2026-06-09T11:24:05.148" v="396" actId="20577"/>
          <ac:spMkLst>
            <pc:docMk/>
            <pc:sldMk cId="1998394443" sldId="256"/>
            <ac:spMk id="27" creationId="{F8A79F15-7053-47F9-9D46-89FDBAA40F04}"/>
          </ac:spMkLst>
        </pc:spChg>
        <pc:spChg chg="mod">
          <ac:chgData name="Mendoza Rojas, Jannyn" userId="bae6d6bb-ed69-4964-9940-9d261c071224" providerId="ADAL" clId="{B5FC0E65-038E-44D3-9A1D-238B56A9641D}" dt="2026-06-12T17:09:28.542" v="404" actId="207"/>
          <ac:spMkLst>
            <pc:docMk/>
            <pc:sldMk cId="1998394443" sldId="256"/>
            <ac:spMk id="28" creationId="{2154E7CA-11FE-42A4-8272-7FBA19134F40}"/>
          </ac:spMkLst>
        </pc:spChg>
        <pc:graphicFrameChg chg="add mod">
          <ac:chgData name="Mendoza Rojas, Jannyn" userId="bae6d6bb-ed69-4964-9940-9d261c071224" providerId="ADAL" clId="{B5FC0E65-038E-44D3-9A1D-238B56A9641D}" dt="2026-06-12T17:09:06.892" v="399"/>
          <ac:graphicFrameMkLst>
            <pc:docMk/>
            <pc:sldMk cId="1998394443" sldId="256"/>
            <ac:graphicFrameMk id="11" creationId="{65696D26-0EBD-2F06-2721-82B89D183B28}"/>
          </ac:graphicFrameMkLst>
        </pc:graphicFrameChg>
        <pc:graphicFrameChg chg="add mod">
          <ac:chgData name="Mendoza Rojas, Jannyn" userId="bae6d6bb-ed69-4964-9940-9d261c071224" providerId="ADAL" clId="{B5FC0E65-038E-44D3-9A1D-238B56A9641D}" dt="2026-06-12T17:09:09.523" v="400"/>
          <ac:graphicFrameMkLst>
            <pc:docMk/>
            <pc:sldMk cId="1998394443" sldId="256"/>
            <ac:graphicFrameMk id="12" creationId="{91C1981D-5B7D-65C9-5E30-A69FF67191B3}"/>
          </ac:graphicFrameMkLst>
        </pc:graphicFrameChg>
        <pc:graphicFrameChg chg="add mod">
          <ac:chgData name="Mendoza Rojas, Jannyn" userId="bae6d6bb-ed69-4964-9940-9d261c071224" providerId="ADAL" clId="{B5FC0E65-038E-44D3-9A1D-238B56A9641D}" dt="2026-06-12T17:09:23.930" v="403"/>
          <ac:graphicFrameMkLst>
            <pc:docMk/>
            <pc:sldMk cId="1998394443" sldId="256"/>
            <ac:graphicFrameMk id="13" creationId="{6BEC066E-4CAC-96C7-F4AD-3B978A974166}"/>
          </ac:graphicFrameMkLst>
        </pc:graphicFrameChg>
        <pc:graphicFrameChg chg="add mod">
          <ac:chgData name="Mendoza Rojas, Jannyn" userId="bae6d6bb-ed69-4964-9940-9d261c071224" providerId="ADAL" clId="{B5FC0E65-038E-44D3-9A1D-238B56A9641D}" dt="2026-06-12T17:09:40.207" v="412"/>
          <ac:graphicFrameMkLst>
            <pc:docMk/>
            <pc:sldMk cId="1998394443" sldId="256"/>
            <ac:graphicFrameMk id="15" creationId="{47867462-A0F6-3050-2FBA-10B8BB7DA9D1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347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1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030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83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59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40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528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181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266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0309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35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E8B5F-9A3E-40B8-A1AF-7EDD946A2306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68CA9-A986-4001-A05F-022E64F0DE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86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B8ED138E-054E-4B2C-A92F-A3D1BB170B87}"/>
              </a:ext>
            </a:extLst>
          </p:cNvPr>
          <p:cNvSpPr/>
          <p:nvPr/>
        </p:nvSpPr>
        <p:spPr>
          <a:xfrm>
            <a:off x="-10787" y="3184418"/>
            <a:ext cx="2622063" cy="2079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chemeClr val="tx1"/>
                </a:solidFill>
              </a:rPr>
              <a:t>Segmentación predictiva y diseño de estrategias de inversión temprana para clientes bancarios del sector español mediante el uso de Business </a:t>
            </a:r>
            <a:r>
              <a:rPr lang="es-CL" sz="1200" b="1" dirty="0" err="1">
                <a:solidFill>
                  <a:schemeClr val="tx1"/>
                </a:solidFill>
              </a:rPr>
              <a:t>Analytics</a:t>
            </a:r>
            <a:r>
              <a:rPr lang="es-CL" sz="1200" b="1" dirty="0">
                <a:solidFill>
                  <a:schemeClr val="tx1"/>
                </a:solidFill>
              </a:rPr>
              <a:t> e Inteligencia Artificial</a:t>
            </a:r>
            <a:endParaRPr lang="es-ES" sz="1200" b="1" dirty="0">
              <a:solidFill>
                <a:schemeClr val="tx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24D9DEB-AED6-46E9-9E97-819E02C48CD1}"/>
              </a:ext>
            </a:extLst>
          </p:cNvPr>
          <p:cNvSpPr/>
          <p:nvPr/>
        </p:nvSpPr>
        <p:spPr>
          <a:xfrm>
            <a:off x="-21464" y="4812350"/>
            <a:ext cx="6868732" cy="74238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154E7CA-11FE-42A4-8272-7FBA19134F40}"/>
              </a:ext>
            </a:extLst>
          </p:cNvPr>
          <p:cNvSpPr/>
          <p:nvPr/>
        </p:nvSpPr>
        <p:spPr>
          <a:xfrm>
            <a:off x="480654" y="7106295"/>
            <a:ext cx="6055872" cy="12059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8A79F15-7053-47F9-9D46-89FDBAA40F04}"/>
              </a:ext>
            </a:extLst>
          </p:cNvPr>
          <p:cNvSpPr/>
          <p:nvPr/>
        </p:nvSpPr>
        <p:spPr>
          <a:xfrm>
            <a:off x="523351" y="5499375"/>
            <a:ext cx="6199247" cy="106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CL" sz="1000" b="1" dirty="0">
                <a:solidFill>
                  <a:schemeClr val="tx1"/>
                </a:solidFill>
              </a:rPr>
              <a:t>Segmentar clientes según el tipo de cuenta que posee y analizar el comportamiento financiero, identificar cual es el tipo de cuenta con mayor  y menor cantidad de clientes y analizar el porque.</a:t>
            </a:r>
            <a:endParaRPr lang="es-ES" sz="10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15E171A-B74C-4F96-AF8A-82998881F89A}"/>
              </a:ext>
            </a:extLst>
          </p:cNvPr>
          <p:cNvPicPr/>
          <p:nvPr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66" r="47570" b="13200"/>
          <a:stretch/>
        </p:blipFill>
        <p:spPr>
          <a:xfrm>
            <a:off x="0" y="-1"/>
            <a:ext cx="3595607" cy="106938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F267997-6017-41C4-A926-25F21B30BCC6}"/>
              </a:ext>
            </a:extLst>
          </p:cNvPr>
          <p:cNvPicPr/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41" y="660663"/>
            <a:ext cx="2018030" cy="298450"/>
          </a:xfrm>
          <a:prstGeom prst="rect">
            <a:avLst/>
          </a:prstGeom>
        </p:spPr>
      </p:pic>
      <p:sp>
        <p:nvSpPr>
          <p:cNvPr id="7" name="Cuadro de texto 2">
            <a:extLst>
              <a:ext uri="{FF2B5EF4-FFF2-40B4-BE49-F238E27FC236}">
                <a16:creationId xmlns:a16="http://schemas.microsoft.com/office/drawing/2014/main" id="{CC32AD48-C596-44DC-BDCE-683B1C77D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21777"/>
            <a:ext cx="3429000" cy="407035"/>
          </a:xfrm>
          <a:prstGeom prst="rect">
            <a:avLst/>
          </a:prstGeom>
          <a:solidFill>
            <a:srgbClr val="00C8C8"/>
          </a:solidFill>
          <a:ln w="9525">
            <a:solidFill>
              <a:srgbClr val="00B4B0"/>
            </a:solidFill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ctr" anchorCtr="0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s-E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TRABAJO</a:t>
            </a:r>
            <a:r>
              <a:rPr lang="es-ES" sz="20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FINAL </a:t>
            </a:r>
            <a:r>
              <a:rPr lang="es-ES" sz="2000" b="1" dirty="0">
                <a:solidFill>
                  <a:srgbClr val="FFFF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 MÁSTER: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40FCDA-4570-4770-8CC2-26335E33F952}"/>
              </a:ext>
            </a:extLst>
          </p:cNvPr>
          <p:cNvSpPr/>
          <p:nvPr/>
        </p:nvSpPr>
        <p:spPr>
          <a:xfrm>
            <a:off x="4242" y="3348811"/>
            <a:ext cx="2842157" cy="298450"/>
          </a:xfrm>
          <a:prstGeom prst="rect">
            <a:avLst/>
          </a:prstGeom>
          <a:solidFill>
            <a:srgbClr val="00C8C8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/>
              <a:t>Título propuesta proyecto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A6BE942-D3CF-4F01-9E83-6FA978D565F3}"/>
              </a:ext>
            </a:extLst>
          </p:cNvPr>
          <p:cNvSpPr/>
          <p:nvPr/>
        </p:nvSpPr>
        <p:spPr>
          <a:xfrm>
            <a:off x="2807925" y="3360030"/>
            <a:ext cx="4037307" cy="287717"/>
          </a:xfrm>
          <a:prstGeom prst="rect">
            <a:avLst/>
          </a:prstGeom>
          <a:solidFill>
            <a:srgbClr val="00C8C8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/>
              <a:t>Descripción y motivación del proyecto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B906B7A-AD75-4D24-BD66-57EC89825A04}"/>
              </a:ext>
            </a:extLst>
          </p:cNvPr>
          <p:cNvSpPr/>
          <p:nvPr/>
        </p:nvSpPr>
        <p:spPr>
          <a:xfrm>
            <a:off x="-5330" y="4812350"/>
            <a:ext cx="3112168" cy="319146"/>
          </a:xfrm>
          <a:prstGeom prst="rect">
            <a:avLst/>
          </a:prstGeom>
          <a:solidFill>
            <a:srgbClr val="00C8C8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/>
              <a:t>Objetivos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88F81C7-8395-490E-9ED8-426777464E70}"/>
              </a:ext>
            </a:extLst>
          </p:cNvPr>
          <p:cNvSpPr/>
          <p:nvPr/>
        </p:nvSpPr>
        <p:spPr>
          <a:xfrm>
            <a:off x="135402" y="5583654"/>
            <a:ext cx="633897" cy="607918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/>
              <a:t>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4086726-4D48-41B3-9407-7FDA008E635A}"/>
              </a:ext>
            </a:extLst>
          </p:cNvPr>
          <p:cNvSpPr/>
          <p:nvPr/>
        </p:nvSpPr>
        <p:spPr>
          <a:xfrm>
            <a:off x="142694" y="7305257"/>
            <a:ext cx="671348" cy="67929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/>
              <a:t>2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92B0740-FAB4-45D0-A2DD-4EB1393ED860}"/>
              </a:ext>
            </a:extLst>
          </p:cNvPr>
          <p:cNvSpPr/>
          <p:nvPr/>
        </p:nvSpPr>
        <p:spPr>
          <a:xfrm>
            <a:off x="-12768" y="1560952"/>
            <a:ext cx="2820693" cy="298450"/>
          </a:xfrm>
          <a:prstGeom prst="rect">
            <a:avLst/>
          </a:prstGeom>
          <a:solidFill>
            <a:srgbClr val="00C8C8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/>
              <a:t>Nombres y apellidos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901076E-8331-4FA3-A528-20E31229FB4E}"/>
              </a:ext>
            </a:extLst>
          </p:cNvPr>
          <p:cNvSpPr/>
          <p:nvPr/>
        </p:nvSpPr>
        <p:spPr>
          <a:xfrm>
            <a:off x="0" y="1862670"/>
            <a:ext cx="2820692" cy="12636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009999"/>
                </a:solidFill>
              </a:rPr>
              <a:t>Jannyn Mendoza</a:t>
            </a:r>
          </a:p>
          <a:p>
            <a:pPr algn="ctr"/>
            <a:r>
              <a:rPr lang="es-ES" sz="1200" b="1" dirty="0">
                <a:solidFill>
                  <a:srgbClr val="009999"/>
                </a:solidFill>
              </a:rPr>
              <a:t>Juan Mateo</a:t>
            </a:r>
          </a:p>
          <a:p>
            <a:pPr algn="ctr"/>
            <a:r>
              <a:rPr lang="es-ES" sz="1200" b="1" dirty="0">
                <a:solidFill>
                  <a:srgbClr val="009999"/>
                </a:solidFill>
              </a:rPr>
              <a:t>Nicole Custode</a:t>
            </a:r>
          </a:p>
          <a:p>
            <a:pPr algn="ctr"/>
            <a:r>
              <a:rPr lang="es-ES" sz="1200" b="1" dirty="0" err="1">
                <a:solidFill>
                  <a:srgbClr val="009999"/>
                </a:solidFill>
              </a:rPr>
              <a:t>Maria</a:t>
            </a:r>
            <a:r>
              <a:rPr lang="es-ES" sz="1200" b="1" dirty="0">
                <a:solidFill>
                  <a:srgbClr val="009999"/>
                </a:solidFill>
              </a:rPr>
              <a:t> Isabel Sanguino</a:t>
            </a:r>
          </a:p>
          <a:p>
            <a:pPr algn="ctr"/>
            <a:r>
              <a:rPr lang="es-ES" sz="1200" b="1" dirty="0">
                <a:solidFill>
                  <a:srgbClr val="009999"/>
                </a:solidFill>
              </a:rPr>
              <a:t>Sacha Aponte</a:t>
            </a:r>
          </a:p>
          <a:p>
            <a:pPr algn="ctr"/>
            <a:endParaRPr lang="es-ES" sz="1200" b="1" dirty="0">
              <a:solidFill>
                <a:srgbClr val="009999"/>
              </a:solidFill>
            </a:endParaRPr>
          </a:p>
          <a:p>
            <a:pPr algn="ctr"/>
            <a:endParaRPr lang="es-ES" sz="1200" b="1" dirty="0">
              <a:solidFill>
                <a:srgbClr val="009999"/>
              </a:solidFill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6D01F5B-A752-4CCD-B2F9-2E73736596E0}"/>
              </a:ext>
            </a:extLst>
          </p:cNvPr>
          <p:cNvSpPr/>
          <p:nvPr/>
        </p:nvSpPr>
        <p:spPr>
          <a:xfrm>
            <a:off x="2807925" y="1563124"/>
            <a:ext cx="4037307" cy="298450"/>
          </a:xfrm>
          <a:prstGeom prst="rect">
            <a:avLst/>
          </a:prstGeom>
          <a:solidFill>
            <a:srgbClr val="00C8C8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/>
              <a:t>Máster cursando </a:t>
            </a:r>
            <a:endParaRPr lang="es-ES" sz="2000" b="1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9351166-A1BD-49B6-8484-3D2CB4ED9169}"/>
              </a:ext>
            </a:extLst>
          </p:cNvPr>
          <p:cNvSpPr/>
          <p:nvPr/>
        </p:nvSpPr>
        <p:spPr>
          <a:xfrm>
            <a:off x="2833459" y="1856414"/>
            <a:ext cx="4011773" cy="1317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rgbClr val="009999"/>
                </a:solidFill>
              </a:rPr>
              <a:t>Business </a:t>
            </a:r>
            <a:r>
              <a:rPr lang="es-ES" sz="2400" b="1" dirty="0" err="1">
                <a:solidFill>
                  <a:srgbClr val="009999"/>
                </a:solidFill>
              </a:rPr>
              <a:t>Analitycs</a:t>
            </a:r>
            <a:r>
              <a:rPr lang="es-ES" sz="2400" b="1" dirty="0">
                <a:solidFill>
                  <a:srgbClr val="009999"/>
                </a:solidFill>
              </a:rPr>
              <a:t> e </a:t>
            </a:r>
            <a:r>
              <a:rPr lang="es-ES" sz="2400" b="1" dirty="0" err="1">
                <a:solidFill>
                  <a:srgbClr val="009999"/>
                </a:solidFill>
              </a:rPr>
              <a:t>Intelligence</a:t>
            </a:r>
            <a:r>
              <a:rPr lang="es-ES" sz="2400" b="1" dirty="0">
                <a:solidFill>
                  <a:srgbClr val="009999"/>
                </a:solidFill>
              </a:rPr>
              <a:t> Artificial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6B6900-5908-8E92-9BCC-64A0219238BC}"/>
              </a:ext>
            </a:extLst>
          </p:cNvPr>
          <p:cNvSpPr/>
          <p:nvPr/>
        </p:nvSpPr>
        <p:spPr>
          <a:xfrm>
            <a:off x="0" y="3128458"/>
            <a:ext cx="6858000" cy="237596"/>
          </a:xfrm>
          <a:prstGeom prst="rect">
            <a:avLst/>
          </a:prstGeom>
          <a:solidFill>
            <a:srgbClr val="00C8C8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 dirty="0"/>
              <a:t>Datos Proyecto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5E342F-8296-6E96-57B4-847A63F013B4}"/>
              </a:ext>
            </a:extLst>
          </p:cNvPr>
          <p:cNvSpPr/>
          <p:nvPr/>
        </p:nvSpPr>
        <p:spPr>
          <a:xfrm>
            <a:off x="-5330" y="1328503"/>
            <a:ext cx="6858000" cy="237596"/>
          </a:xfrm>
          <a:prstGeom prst="rect">
            <a:avLst/>
          </a:prstGeom>
          <a:solidFill>
            <a:srgbClr val="00C8C8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 dirty="0"/>
              <a:t>Datos estudiantes</a:t>
            </a:r>
            <a:endParaRPr lang="es-ES" sz="1600" b="1" dirty="0">
              <a:cs typeface="Calibri"/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F1F6FAC4-C202-4854-987F-6979F3F7D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2" y="-7605"/>
            <a:ext cx="1507366" cy="3729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51C79AB-1BD8-2F7A-6062-63A22A2E2300}"/>
              </a:ext>
            </a:extLst>
          </p:cNvPr>
          <p:cNvSpPr txBox="1"/>
          <p:nvPr/>
        </p:nvSpPr>
        <p:spPr>
          <a:xfrm>
            <a:off x="2820692" y="3735062"/>
            <a:ext cx="39965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000" b="1" dirty="0"/>
              <a:t>El presente proyecto tiene como objetivo analizar el comportamiento financiero de clientes bancarios mediante técnicas de Business </a:t>
            </a:r>
            <a:r>
              <a:rPr lang="es-CL" sz="1000" b="1" dirty="0" err="1"/>
              <a:t>Analytics</a:t>
            </a:r>
            <a:r>
              <a:rPr lang="es-CL" sz="1000" b="1" dirty="0"/>
              <a:t>, con el fin de lograr la segmentación de clientes y elaborar modelos predictivos, con el propósito de identificar perfiles y hábitos financieros y así mismo potenciar el ahorro e inversión temprana edad.</a:t>
            </a:r>
            <a:endParaRPr lang="es-CL" sz="100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48D094A-337F-2AC4-8E27-B16AB0BBA51B}"/>
              </a:ext>
            </a:extLst>
          </p:cNvPr>
          <p:cNvSpPr/>
          <p:nvPr/>
        </p:nvSpPr>
        <p:spPr>
          <a:xfrm>
            <a:off x="448737" y="9128728"/>
            <a:ext cx="6199247" cy="10627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CL" sz="1000" b="1" dirty="0">
                <a:solidFill>
                  <a:schemeClr val="tx1"/>
                </a:solidFill>
              </a:rPr>
              <a:t>Diseño de un modelo analítico para los jóvenes con el fin de potenciar  las estrategias de inversión basado en sugerencias automatizadas</a:t>
            </a: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B97E842-92E9-46AC-BA01-F7E71F9018D7}"/>
              </a:ext>
            </a:extLst>
          </p:cNvPr>
          <p:cNvSpPr/>
          <p:nvPr/>
        </p:nvSpPr>
        <p:spPr>
          <a:xfrm>
            <a:off x="97951" y="9271078"/>
            <a:ext cx="671348" cy="679290"/>
          </a:xfrm>
          <a:prstGeom prst="ellipse">
            <a:avLst/>
          </a:prstGeom>
          <a:solidFill>
            <a:srgbClr val="00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/>
              <a:t>3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65696D26-0EBD-2F06-2721-82B89D183B28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3302000" cy="485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68112122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Construir un modelo enfocado en el tipo de cliente según su perfil, sus necesidades y el tipo de consumo al que debe incurrir para acceder a la siguiente </a:t>
                      </a:r>
                      <a:r>
                        <a:rPr lang="es-CL" sz="1000" u="none" strike="noStrike" dirty="0" err="1">
                          <a:effectLst/>
                        </a:rPr>
                        <a:t>categoria</a:t>
                      </a:r>
                      <a:r>
                        <a:rPr lang="es-CL" sz="1000" u="none" strike="noStrike" dirty="0">
                          <a:effectLst/>
                        </a:rPr>
                        <a:t>/tarjeta</a:t>
                      </a:r>
                      <a:endParaRPr lang="es-CL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091517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91C1981D-5B7D-65C9-5E30-A69FF67191B3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3302000" cy="485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371295013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Construir un modelo enfocado en el tipo de cliente según su perfil, sus necesidades y el tipo de consumo al que debe incurrir para acceder a la siguiente </a:t>
                      </a:r>
                      <a:r>
                        <a:rPr lang="es-CL" sz="1000" u="none" strike="noStrike" dirty="0" err="1">
                          <a:effectLst/>
                        </a:rPr>
                        <a:t>categoria</a:t>
                      </a:r>
                      <a:r>
                        <a:rPr lang="es-CL" sz="1000" u="none" strike="noStrike" dirty="0">
                          <a:effectLst/>
                        </a:rPr>
                        <a:t>/tarjeta</a:t>
                      </a:r>
                      <a:endParaRPr lang="es-CL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6280929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6BEC066E-4CAC-96C7-F4AD-3B978A974166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3302000" cy="485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884943435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Construir un modelo enfocado en el tipo de cliente según su perfil, sus necesidades y el tipo de consumo al que debe incurrir para acceder a la siguiente </a:t>
                      </a:r>
                      <a:r>
                        <a:rPr lang="es-CL" sz="1000" u="none" strike="noStrike" dirty="0" err="1">
                          <a:effectLst/>
                        </a:rPr>
                        <a:t>categoria</a:t>
                      </a:r>
                      <a:r>
                        <a:rPr lang="es-CL" sz="1000" u="none" strike="noStrike" dirty="0">
                          <a:effectLst/>
                        </a:rPr>
                        <a:t>/tarjeta</a:t>
                      </a:r>
                      <a:endParaRPr lang="es-CL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1931039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EE98A6F9-0A76-BF75-5444-7243C612DBFE}"/>
              </a:ext>
            </a:extLst>
          </p:cNvPr>
          <p:cNvSpPr txBox="1"/>
          <p:nvPr/>
        </p:nvSpPr>
        <p:spPr>
          <a:xfrm>
            <a:off x="872242" y="7428350"/>
            <a:ext cx="5606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Construir un modelo enfocado en el tipo de cliente según su perfil, sus necesidades y el tipo de consumo al que debe incurrir para acceder a la siguiente </a:t>
            </a:r>
            <a:r>
              <a:rPr lang="es-MX" sz="1200" b="1" dirty="0" err="1"/>
              <a:t>categoria</a:t>
            </a:r>
            <a:r>
              <a:rPr lang="es-MX" sz="1200" b="1" dirty="0"/>
              <a:t>/tarjeta</a:t>
            </a:r>
            <a:endParaRPr lang="es-CL" sz="1200" b="1" dirty="0"/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47867462-A0F6-3050-2FBA-10B8BB7DA9D1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3302000" cy="485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99526998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Construir un modelo enfocado en el tipo de cliente según su perfil, sus necesidades y el tipo de consumo al que debe incurrir para acceder a la siguiente </a:t>
                      </a:r>
                      <a:r>
                        <a:rPr lang="es-CL" sz="1000" u="none" strike="noStrike" dirty="0" err="1">
                          <a:effectLst/>
                        </a:rPr>
                        <a:t>categoria</a:t>
                      </a:r>
                      <a:r>
                        <a:rPr lang="es-CL" sz="1000" u="none" strike="noStrike" dirty="0">
                          <a:effectLst/>
                        </a:rPr>
                        <a:t>/tarjeta</a:t>
                      </a:r>
                      <a:endParaRPr lang="es-CL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513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394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8351b95-0511-4891-b8b8-7d70390d8dd3" xsi:nil="true"/>
    <lcf76f155ced4ddcb4097134ff3c332f xmlns="2a5c6ce0-975c-4b82-8bae-c4734806973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CC0B5BB94C1941B07E013ED0593987" ma:contentTypeVersion="14" ma:contentTypeDescription="Create a new document." ma:contentTypeScope="" ma:versionID="3e379b2c63c2efc869acdd8e0b304cf9">
  <xsd:schema xmlns:xsd="http://www.w3.org/2001/XMLSchema" xmlns:xs="http://www.w3.org/2001/XMLSchema" xmlns:p="http://schemas.microsoft.com/office/2006/metadata/properties" xmlns:ns2="2a5c6ce0-975c-4b82-8bae-c4734806973a" xmlns:ns3="08351b95-0511-4891-b8b8-7d70390d8dd3" targetNamespace="http://schemas.microsoft.com/office/2006/metadata/properties" ma:root="true" ma:fieldsID="0a030defeb155d2effa145bb96d8078e" ns2:_="" ns3:_="">
    <xsd:import namespace="2a5c6ce0-975c-4b82-8bae-c4734806973a"/>
    <xsd:import namespace="08351b95-0511-4891-b8b8-7d70390d8d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c6ce0-975c-4b82-8bae-c47348069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055066-1d0b-4836-b0e5-54071a0012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351b95-0511-4891-b8b8-7d70390d8dd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a15d71-a277-45de-ac45-2d08e294549b}" ma:internalName="TaxCatchAll" ma:showField="CatchAllData" ma:web="08351b95-0511-4891-b8b8-7d70390d8d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0B8B6D-F70A-4AD8-82AF-0024554D833E}">
  <ds:schemaRefs>
    <ds:schemaRef ds:uri="08351b95-0511-4891-b8b8-7d70390d8dd3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2a5c6ce0-975c-4b82-8bae-c4734806973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20DA1D6-E35D-49DE-B492-E1AE034A01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AE8ADD-25D7-4C89-9F2A-F8B966210D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5c6ce0-975c-4b82-8bae-c4734806973a"/>
    <ds:schemaRef ds:uri="08351b95-0511-4891-b8b8-7d70390d8d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40b5de6-6e2e-46f2-bca1-507eb809bbf7}" enabled="1" method="Privileged" siteId="{56d7daaa-b378-45b3-aa11-af9402b401b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334</Words>
  <Application>Microsoft Office PowerPoint</Application>
  <PresentationFormat>Panorámica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Alba Barbarà Molinero</dc:creator>
  <cp:lastModifiedBy>Mendoza Rojas, Jannyn</cp:lastModifiedBy>
  <cp:revision>119</cp:revision>
  <dcterms:created xsi:type="dcterms:W3CDTF">2021-07-30T06:29:03Z</dcterms:created>
  <dcterms:modified xsi:type="dcterms:W3CDTF">2026-06-12T17:10:13Z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0x01010063CC0B5BB94C1941B07E013ED0593987</vt:lpwstr>
  </property>
</Properties>
</file>